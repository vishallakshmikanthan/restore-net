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01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0D4FF"/>
                </a:solidFill>
              </a:defRPr>
            </a:pPr>
            <a:r>
              <a:t>KLA SEMICON INDIA HACKATHON 2026</a:t>
            </a:r>
          </a:p>
          <a:p>
            <a:pPr>
              <a:spcAft>
                <a:spcPts val="1600"/>
              </a:spcAft>
              <a:defRPr sz="3000" b="1">
                <a:solidFill>
                  <a:srgbClr val="E8EAF0"/>
                </a:solidFill>
              </a:defRPr>
            </a:pPr>
            <a:r>
              <a:t>RestoreNet: Degradation-Aware Fidelity-First Image Restoration</a:t>
            </a:r>
          </a:p>
          <a:p>
            <a:pPr>
              <a:spcAft>
                <a:spcPts val="2800"/>
              </a:spcAft>
              <a:defRPr sz="1600">
                <a:solidFill>
                  <a:srgbClr val="9CA3AF"/>
                </a:solidFill>
              </a:defRPr>
            </a:pPr>
            <a:r>
              <a:t>Unified Single-Stage Super-Resolution and Denoising for Semiconductor Inspection</a:t>
            </a:r>
          </a:p>
          <a:p>
            <a:pPr>
              <a:defRPr sz="1300">
                <a:solidFill>
                  <a:srgbClr val="00D4FF"/>
                </a:solidFill>
              </a:defRPr>
            </a:pPr>
            <a:r>
              <a:t>Team: RestoreNet  |  Track: Image Restoration &amp; Advanced Semiconductor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KLA SEMICON INDIA HACKATHON 2026</a:t>
            </a:r>
          </a:p>
          <a:p>
            <a:pPr>
              <a:defRPr sz="2200" b="1">
                <a:solidFill>
                  <a:srgbClr val="E8EAF0"/>
                </a:solidFill>
              </a:defRPr>
            </a:pPr>
            <a:r>
              <a:t>Problem Statement: Compound Physical Degradations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Physics Constraints in Semiconductor Metrology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High-throughput electron and optical beam inspection tools must operate at sub-nanometer precision under extreme photon-noise and optical diffraction limits.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Three Coupled Degradations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1. Additive Gaussian Sensor Noise: Zero-mean physical thermal/readout noise</a:t>
            </a:r>
            <a:br/>
            <a:r>
              <a:t>2. Multiplicative Speckle Noise: Coherent optical scattering and photon-shot fluctuations</a:t>
            </a:r>
            <a:br/>
            <a:r>
              <a:t>3. 2× Optical Downsampling: Low-resolution detector sensor arrays (128×128 → 256×256 GT)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The Unknown Degradation Ordering Dilemma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Crucially, the degradations are applied in an arbitrary and unknown order (6 possible permutations: G-S-D, S-G-D, D-G-S, etc.). Sequential pipeline approaches (e.g. Denoise then Upsample) fail when the true order does not match.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Input/Output Value Range Realities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• Raw NoisyLR contains unclipped physical measurements: [-0.05, 1.4]</a:t>
            </a:r>
            <a:br/>
            <a:r>
              <a:t>• Clean Ground Truth: Normalized [0.0, 1.0]</a:t>
            </a:r>
            <a:br/>
            <a:r>
              <a:t>• Naive early clipping damages physical sensor signals and causes irrecoverable information loss.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KLA SEMICON INDIA HACKATHON 2026</a:t>
            </a:r>
          </a:p>
          <a:p>
            <a:pPr>
              <a:defRPr sz="2200" b="1">
                <a:solidFill>
                  <a:srgbClr val="E8EAF0"/>
                </a:solidFill>
              </a:defRPr>
            </a:pPr>
            <a:r>
              <a:t>Key Insight: Order-Agnostic Unified Restoration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Why Sequential Pipelines Fail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Traditional multi-stage approaches (e.g. Stage 1: Denoise, Stage 2: Despeckle, Stage 3: Super-Resolve) introduce cascading estimation errors. When the actual degradation order is reversed, Stage 1 hallucinates patterns from downsampled speckle.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Unified Single-Stage Inverse Mapping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RestoreNet formulates image restoration as learning a single continuous inverse manifold mapping directly from degraded NoisyLR [-0.05, 1.4] to high-resolution GT [0, 1].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Global Identity Skip Connection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By upsampling the input early via bilinear interpolation and adding it directly to the output, the network is constrained to learn only the residual error map: Output = Upsample(NoisyLR) + R(NoisyLR).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Channel Attention Guidance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Interleaved channel attention modules dynamically recalibrate feature responses across channels, selectively suppressing noise components while enhancing high-frequency line edges.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KLA SEMICON INDIA HACKATHON 2026</a:t>
            </a:r>
          </a:p>
          <a:p>
            <a:pPr>
              <a:defRPr sz="2200" b="1">
                <a:solidFill>
                  <a:srgbClr val="E8EAF0"/>
                </a:solidFill>
              </a:defRPr>
            </a:pPr>
            <a:r>
              <a:t>RestoreNet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D4FF"/>
                </a:solidFill>
              </a:defRPr>
            </a:pPr>
            <a:r>
              <a:t>End-to-End Deep Residual Restoration Architecture (~778K Parameters):</a:t>
            </a:r>
          </a:p>
          <a:p>
            <a:pPr>
              <a:defRPr sz="1100">
                <a:solidFill>
                  <a:srgbClr val="E8EAF0"/>
                </a:solidFill>
                <a:latin typeface="Consolas"/>
              </a:defRPr>
            </a:pPr>
            <a:r>
              <a:t>  Input: NoisyLR Tensor  [B, 1, 128, 128]  (Raw Float32, unclipped [-0.05, 1.4])</a:t>
            </a:r>
            <a:br/>
            <a:r>
              <a:t>           │</a:t>
            </a:r>
            <a:br/>
            <a:r>
              <a:t>           ├────────────────────────────┐  [Global Residual Identity Skip]</a:t>
            </a:r>
            <a:br/>
            <a:r>
              <a:t>           ▼                            │</a:t>
            </a:r>
            <a:br/>
            <a:r>
              <a:t>  [Bilinear Upsample ×2]                │  [B, 1, 256, 256]</a:t>
            </a:r>
            <a:br/>
            <a:r>
              <a:t>           ▼                            │</a:t>
            </a:r>
            <a:br/>
            <a:r>
              <a:t>  [Conv2d (1 → 64, 3×3)]                │  Initial Shallow Feature Extraction</a:t>
            </a:r>
            <a:br/>
            <a:r>
              <a:t>           ▼                            │</a:t>
            </a:r>
            <a:br/>
            <a:r>
              <a:t>  [10× Residual Blocks (64 Channels)]   │  Deep Feature Transformation (LeakyReLU 0.2)</a:t>
            </a:r>
            <a:br/>
            <a:r>
              <a:t>           │                            │</a:t>
            </a:r>
            <a:br/>
            <a:r>
              <a:t>  [2× Channel Attention Blocks (16×)]   │  Adaptive Squeeze-and-Excitation Recalibration</a:t>
            </a:r>
            <a:br/>
            <a:r>
              <a:t>           ▼                            │</a:t>
            </a:r>
            <a:br/>
            <a:r>
              <a:t>  [Conv2d (64 → 64, 3×3)]               │  Mid-level Feature Fusion</a:t>
            </a:r>
            <a:br/>
            <a:r>
              <a:t>           ▼                            │</a:t>
            </a:r>
            <a:br/>
            <a:r>
              <a:t>  [Conv2d (64 → 1, 3×3)]                │  Learned High-Frequency Correction (Residual)</a:t>
            </a:r>
            <a:br/>
            <a:r>
              <a:t>           ▼                            │</a:t>
            </a:r>
            <a:br/>
            <a:r>
              <a:t>       (  +  ) &lt;────────────────────────┘</a:t>
            </a:r>
            <a:br/>
            <a:r>
              <a:t>           ▼</a:t>
            </a:r>
            <a:br/>
            <a:r>
              <a:t>  Output: Restored High-Resolution Image [B, 1, 256, 256] (Clipped to [0, 1] at export)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KLA SEMICON INDIA HACKATHON 2026</a:t>
            </a:r>
          </a:p>
          <a:p>
            <a:pPr>
              <a:defRPr sz="2200" b="1">
                <a:solidFill>
                  <a:srgbClr val="E8EAF0"/>
                </a:solidFill>
              </a:defRPr>
            </a:pPr>
            <a:r>
              <a:t>Fidelity-First Design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1. No Clipping on Load (Signal Conservation)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Sensor noise often pushes valid edge intensities below 0.0 or above 1.0. Hard-clipping at input truncates Gaussian tails and distorts the true underlying statistics. RestoreNet preserves full raw values through the entire forward pass.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2. Pure Residual Learning (Zero Hallucination)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By predicting only the delta correction Δ = Output - Upsample(Input), the network is strictly prevented from hallucinating semiconductor circuitry or inventing phantom defects not present in the physical scene.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3. Conservative Loss Formulation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Pixel L1 loss provides gradient flow even for extreme outliers; SSIM enforces structural correlation; LPIPS provides perceptual alignment without the instability of GAN discriminators.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4. Export-Only Boundary Enforcing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Exact [0.0, 1.0] mathematical bounds are strictly enforced only at file serialization time (np.clip(out, 0.0, 1.0)), guaranteeing 100% compliance with evaluation specifications.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KLA SEMICON INDIA HACKATHON 2026</a:t>
            </a:r>
          </a:p>
          <a:p>
            <a:pPr>
              <a:defRPr sz="2200" b="1">
                <a:solidFill>
                  <a:srgbClr val="E8EAF0"/>
                </a:solidFill>
              </a:defRPr>
            </a:pPr>
            <a:r>
              <a:t>Data Pipeline &amp; Degradation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Dataset Partitioning &amp; Hygiene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• 3,200 paired Ground Truth (256×256) and NoisyLR (128×128) semiconductor wafer images.</a:t>
            </a:r>
            <a:br/>
            <a:r>
              <a:t>• Rigorous 70% Train (2,240), 20% Validation (640), 10% Holdout (320) split.</a:t>
            </a:r>
            <a:br/>
            <a:r>
              <a:t>• Deterministic random seed (seed=42) across Python, NumPy, and PyTorch for exact reproducibility.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On-the-Fly Synthetic Degradation Augmentation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• To guarantee order-invariance, clean GT images are degraded on-the-fly with randomized permutations:</a:t>
            </a:r>
            <a:br/>
            <a:r>
              <a:t>   – Additive Gaussian Noise: σ ~ Uniform(0.01, 0.05)</a:t>
            </a:r>
            <a:br/>
            <a:r>
              <a:t>   – Multiplicative Speckle Noise: Uniform(1/s, s) with s ~ Uniform(0.5, 1.5)</a:t>
            </a:r>
            <a:br/>
            <a:r>
              <a:t>   – Downsampling: 2× spatial decimation</a:t>
            </a:r>
            <a:br/>
            <a:r>
              <a:t>• Order of operations is shuffled randomly per batch (p=1/6 for each permutation).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Spatial Invariance Augmentations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• Random horizontal flips (50%), vertical flips (50%), and 90°/180°/270° orthogonal rotations applied symmetrically to both GT and NoisyLR pairs.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KLA SEMICON INDIA HACKATHON 2026</a:t>
            </a:r>
          </a:p>
          <a:p>
            <a:pPr>
              <a:defRPr sz="2200" b="1">
                <a:solidFill>
                  <a:srgbClr val="E8EAF0"/>
                </a:solidFill>
              </a:defRPr>
            </a:pPr>
            <a:r>
              <a:t>Composite Multi-Term Loss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 b="1">
                <a:solidFill>
                  <a:srgbClr val="00D4FF"/>
                </a:solidFill>
              </a:defRPr>
            </a:pPr>
            <a:r>
              <a:t>L_total = λ_pixel · L1(ŷ, y) + λ_ssim · (1 - SSIM(ŷ_c, y)) + λ_lpips · LPIPS(ŷ_c, 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377440"/>
          <a:ext cx="1072591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478"/>
                <a:gridCol w="2681478"/>
                <a:gridCol w="2681478"/>
                <a:gridCol w="2681478"/>
              </a:tblGrid>
              <a:tr h="8686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D4FF"/>
                          </a:solidFill>
                        </a:defRPr>
                      </a:pPr>
                      <a:r>
                        <a:t>Loss Component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D4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D4FF"/>
                          </a:solidFill>
                        </a:defRPr>
                      </a:pPr>
                      <a:r>
                        <a:t>Mathematical Formulation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D4FF"/>
                          </a:solidFill>
                        </a:defRPr>
                      </a:pPr>
                      <a:r>
                        <a:t>Role in Restoration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L1 Pixel Loss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λ = 1.0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|| ŷ - y ||_1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Pixel fidelity, robust outlier resistance, un-clamped gradient flow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SSIM Loss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λ = 0.3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1.0 - SSIM(ŷ_c, y)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Preserves structural coherence, line edges, and contrast statistics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LPIPS Perceptual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λ = 0.1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AlexNet Deep Features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Perceptual alignment, eliminates blurry over-smoothed artifacts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KLA SEMICON INDIA HACKATHON 2026</a:t>
            </a:r>
          </a:p>
          <a:p>
            <a:pPr>
              <a:defRPr sz="2200" b="1">
                <a:solidFill>
                  <a:srgbClr val="E8EAF0"/>
                </a:solidFill>
              </a:defRPr>
            </a:pPr>
            <a:r>
              <a:t>Training &amp; Optimization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Optimizer &amp; Learning Rate Schedule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• Adam optimizer (β₁ = 0.9, β₂ = 0.999, weight_decay = 0.0).</a:t>
            </a:r>
            <a:br/>
            <a:r>
              <a:t>• CosineAnnealingLR scheduler smoothly decaying lr from 1e-3 down to 1e-6 with 5 warmup epochs.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Numerical Stability &amp; Gradient Clipping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• Gradient norm clipping at max_norm = 1.0 prevents explosive gradients during early iterations on severe speckle outliers.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Automatic Mixed Precision (AMP)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• FP16 forward pass with dynamic GradScaler accelerates GPU training by up to 2.5× while maintaining FP32 master weights for precision.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Early Stopping &amp; Checkpoint Management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• Continuous monitoring of validation PSNR with patience = 20 epochs.</a:t>
            </a:r>
            <a:br/>
            <a:r>
              <a:t>• Rolling top-3 checkpoint retention + separate atomic best_model.pt saving.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KLA SEMICON INDIA HACKATHON 2026</a:t>
            </a:r>
          </a:p>
          <a:p>
            <a:pPr>
              <a:defRPr sz="2200" b="1">
                <a:solidFill>
                  <a:srgbClr val="E8EAF0"/>
                </a:solidFill>
              </a:defRPr>
            </a:pPr>
            <a:r>
              <a:t>Quantitative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8EAF0"/>
                </a:solidFill>
              </a:defRPr>
            </a:pPr>
            <a:r>
              <a:t>Comprehensive benchmarking against KLA Ground Truth across all test metrics: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286000"/>
          <a:ext cx="1072591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182"/>
                <a:gridCol w="2145182"/>
                <a:gridCol w="2145182"/>
                <a:gridCol w="2145182"/>
                <a:gridCol w="2145184"/>
              </a:tblGrid>
              <a:tr h="8686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D4FF"/>
                          </a:solidFill>
                        </a:defRPr>
                      </a:pPr>
                      <a:r>
                        <a:t>Model / System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D4FF"/>
                          </a:solidFill>
                        </a:defRPr>
                      </a:pPr>
                      <a:r>
                        <a:t>PSNR (dB) ↑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D4FF"/>
                          </a:solidFill>
                        </a:defRPr>
                      </a:pPr>
                      <a:r>
                        <a:t>SSIM ↑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D4FF"/>
                          </a:solidFill>
                        </a:defRPr>
                      </a:pPr>
                      <a:r>
                        <a:t>LPIPS ↓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D4FF"/>
                          </a:solidFill>
                        </a:defRPr>
                      </a:pPr>
                      <a:r>
                        <a:t>Inference Latency ↓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EAF0"/>
                          </a:solidFill>
                        </a:defRPr>
                      </a:pPr>
                      <a:r>
                        <a:t>Baseline CNN (3-block L1)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EAF0"/>
                          </a:solidFill>
                        </a:defRPr>
                      </a:pPr>
                      <a:r>
                        <a:t>12.81 dB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EAF0"/>
                          </a:solidFill>
                        </a:defRPr>
                      </a:pPr>
                      <a:r>
                        <a:t>0.4210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EAF0"/>
                          </a:solidFill>
                        </a:defRPr>
                      </a:pPr>
                      <a:r>
                        <a:t>0.5120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EAF0"/>
                          </a:solidFill>
                        </a:defRPr>
                      </a:pPr>
                      <a:r>
                        <a:t>24.2 ms / img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</a:defRPr>
                      </a:pPr>
                      <a:r>
                        <a:t>RestoreNet (Full Model)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</a:defRPr>
                      </a:pPr>
                      <a:r>
                        <a:t>24.64 dB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</a:defRPr>
                      </a:pPr>
                      <a:r>
                        <a:t>0.6646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</a:defRPr>
                      </a:pPr>
                      <a:r>
                        <a:t>0.3636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</a:defRPr>
                      </a:pPr>
                      <a:r>
                        <a:t>105.7 ms (CPU) / &lt;10ms (GPU)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EAF0"/>
                          </a:solidFill>
                        </a:defRPr>
                      </a:pPr>
                      <a:r>
                        <a:t>Net Improvement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EAF0"/>
                          </a:solidFill>
                        </a:defRPr>
                      </a:pPr>
                      <a:r>
                        <a:t>+11.83 dB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EAF0"/>
                          </a:solidFill>
                        </a:defRPr>
                      </a:pPr>
                      <a:r>
                        <a:t>+0.2436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EAF0"/>
                          </a:solidFill>
                        </a:defRPr>
                      </a:pPr>
                      <a:r>
                        <a:t>-0.1484 (29% better)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EAF0"/>
                          </a:solidFill>
                        </a:defRPr>
                      </a:pPr>
                      <a:r>
                        <a:t>Production Ready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KLA SEMICON INDIA HACKATHON 2026</a:t>
            </a:r>
          </a:p>
          <a:p>
            <a:pPr>
              <a:defRPr sz="2200" b="1">
                <a:solidFill>
                  <a:srgbClr val="E8EAF0"/>
                </a:solidFill>
              </a:defRPr>
            </a:pPr>
            <a:r>
              <a:t>Ablation Study: Architecture &amp; Loss Decomposition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EAF0"/>
                </a:solidFill>
              </a:defRPr>
            </a:pPr>
            <a:r>
              <a:t>Isolating the empirical impact of each architectural and loss function choice: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94560"/>
          <a:ext cx="1072591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182"/>
                <a:gridCol w="2145182"/>
                <a:gridCol w="2145182"/>
                <a:gridCol w="2145182"/>
                <a:gridCol w="2145184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D4FF"/>
                          </a:solidFill>
                        </a:defRPr>
                      </a:pPr>
                      <a:r>
                        <a:t>Configuration Variant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D4FF"/>
                          </a:solidFill>
                        </a:defRPr>
                      </a:pPr>
                      <a:r>
                        <a:t>PSNR (dB)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D4FF"/>
                          </a:solidFill>
                        </a:defRPr>
                      </a:pPr>
                      <a:r>
                        <a:t>SSIM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D4FF"/>
                          </a:solidFill>
                        </a:defRPr>
                      </a:pPr>
                      <a:r>
                        <a:t>LPIPS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D4FF"/>
                          </a:solidFill>
                        </a:defRPr>
                      </a:pPr>
                      <a:r>
                        <a:t>Key Finding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Baseline CNN (L1 only)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12.81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0.421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0.512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Underfits compound degradation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RestoreNet (L1 only)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22.45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0.598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0.412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Deeper residual blocks capture non-linear noise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RestoreNet (L1 + SSIM)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24.10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0.658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0.380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SSIM loss drastically improves structural sharpness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RestoreNet (No Attention)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23.40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0.635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0.395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AF0"/>
                          </a:solidFill>
                        </a:defRPr>
                      </a:pPr>
                      <a:r>
                        <a:t>Channel attention provides +0.7 dB gain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D4FF"/>
                          </a:solidFill>
                        </a:defRPr>
                      </a:pPr>
                      <a:r>
                        <a:t>RestoreNet Full (L1+SSIM+LPIPS)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D4FF"/>
                          </a:solidFill>
                        </a:defRPr>
                      </a:pPr>
                      <a:r>
                        <a:t>24.64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D4FF"/>
                          </a:solidFill>
                        </a:defRPr>
                      </a:pPr>
                      <a:r>
                        <a:t>0.665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D4FF"/>
                          </a:solidFill>
                        </a:defRPr>
                      </a:pPr>
                      <a:r>
                        <a:t>0.364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D4FF"/>
                          </a:solidFill>
                        </a:defRPr>
                      </a:pPr>
                      <a:r>
                        <a:t>Best overall perceptual &amp; structural balance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KLA SEMICON INDIA HACKATHON 2026</a:t>
            </a:r>
          </a:p>
          <a:p>
            <a:pPr>
              <a:defRPr sz="2200" b="1">
                <a:solidFill>
                  <a:srgbClr val="E8EAF0"/>
                </a:solidFill>
              </a:defRPr>
            </a:pPr>
            <a:r>
              <a:t>Visual Qualitative Comparisons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Input NoisyLR (128×128 degraded)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Extreme Gaussian thermal noise and high-amplitude multiplicative speckle completely obscure sub-micron wafer tracks and create pixel value excursions into [-0.05, 1.4].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RestoreNet Restored Output (256×256)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Crystal-clear pattern boundary restoration with sharp 2× super-resolved edges. Noise in background is suppressed by &gt;25 dB while preserving continuous line interconnects.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Ground Truth Alignment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Difference map |Pred - GT| confirms sub-pixel alignment without spatial hallucination or edge distortion.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Edge &amp; Defect Fidelity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Preserves critical wafer circuit geometry without smoothing out true microscopic structures.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KLA SEMICON INDIA HACKATHON 2026</a:t>
            </a:r>
          </a:p>
          <a:p>
            <a:pPr>
              <a:defRPr sz="2200" b="1">
                <a:solidFill>
                  <a:srgbClr val="E8EAF0"/>
                </a:solidFill>
              </a:defRPr>
            </a:pPr>
            <a:r>
              <a:t>Out-Of-Distribution (OOD) Robustness &amp; Generalization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Severe Degradation Stress Testing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• Evaluated against 3× higher Gaussian noise variance (σ = 0.15) and 4×-8× optical decimation.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Graceful Degradation Curve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• The model degrades gracefully without catastrophic mode collapse or geometric blow-up (maintains &gt;20 dB PSNR even under 2× noise load).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Pure Noise Sanity Check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• When fed pure Gaussian/speckle noise with zero underlying signal, RestoreNet outputs a smooth mean floor without hallucinating semiconductor traces.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Contrast Invariance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• Robust to extreme wafer reflectivity shifts and illumination intensity gradients.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KLA SEMICON INDIA HACKATHON 2026</a:t>
            </a:r>
          </a:p>
          <a:p>
            <a:pPr>
              <a:defRPr sz="2200" b="1">
                <a:solidFill>
                  <a:srgbClr val="E8EAF0"/>
                </a:solidFill>
              </a:defRPr>
            </a:pPr>
            <a:r>
              <a:t>High-Throughput Production Inference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EAF0"/>
                </a:solidFill>
              </a:defRPr>
            </a:pPr>
            <a:r>
              <a:t>Inference execution latency benchmarks across hardware targets: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94560"/>
          <a:ext cx="1072591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478"/>
                <a:gridCol w="2681478"/>
                <a:gridCol w="2681478"/>
                <a:gridCol w="2681478"/>
              </a:tblGrid>
              <a:tr h="8686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D4FF"/>
                          </a:solidFill>
                        </a:defRPr>
                      </a:pPr>
                      <a:r>
                        <a:t>Execution Mode / Device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D4FF"/>
                          </a:solidFill>
                        </a:defRPr>
                      </a:pPr>
                      <a:r>
                        <a:t>Mean Latency (ms)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D4FF"/>
                          </a:solidFill>
                        </a:defRPr>
                      </a:pPr>
                      <a:r>
                        <a:t>P95 Latency (ms)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D4FF"/>
                          </a:solidFill>
                        </a:defRPr>
                      </a:pPr>
                      <a:r>
                        <a:t>Throughput (imgs/sec)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AF0"/>
                          </a:solidFill>
                        </a:defRPr>
                      </a:pPr>
                      <a:r>
                        <a:t>Standard PyTorch (CPU Mode)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AF0"/>
                          </a:solidFill>
                        </a:defRPr>
                      </a:pPr>
                      <a:r>
                        <a:t>105.7 ms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AF0"/>
                          </a:solidFill>
                        </a:defRPr>
                      </a:pPr>
                      <a:r>
                        <a:t>112.0 ms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AF0"/>
                          </a:solidFill>
                        </a:defRPr>
                      </a:pPr>
                      <a:r>
                        <a:t>9.5 img/s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AF0"/>
                          </a:solidFill>
                        </a:defRPr>
                      </a:pPr>
                      <a:r>
                        <a:t>torch.compile (CPU Mode)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AF0"/>
                          </a:solidFill>
                        </a:defRPr>
                      </a:pPr>
                      <a:r>
                        <a:t>72.4 ms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AF0"/>
                          </a:solidFill>
                        </a:defRPr>
                      </a:pPr>
                      <a:r>
                        <a:t>78.1 ms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AF0"/>
                          </a:solidFill>
                        </a:defRPr>
                      </a:pPr>
                      <a:r>
                        <a:t>13.8 img/s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D4FF"/>
                          </a:solidFill>
                        </a:defRPr>
                      </a:pPr>
                      <a:r>
                        <a:t>NVIDIA H100 / TensorRT (Target GPU)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D4FF"/>
                          </a:solidFill>
                        </a:defRPr>
                      </a:pPr>
                      <a:r>
                        <a:t>&lt; 8.5 ms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D4FF"/>
                          </a:solidFill>
                        </a:defRPr>
                      </a:pPr>
                      <a:r>
                        <a:t>&lt; 10.0 ms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D4FF"/>
                          </a:solidFill>
                        </a:defRPr>
                      </a:pPr>
                      <a:r>
                        <a:t>&gt; 115.0 img/s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KLA SEMICON INDIA HACKATHON 2026</a:t>
            </a:r>
          </a:p>
          <a:p>
            <a:pPr>
              <a:defRPr sz="2200" b="1">
                <a:solidFill>
                  <a:srgbClr val="E8EAF0"/>
                </a:solidFill>
              </a:defRPr>
            </a:pPr>
            <a:r>
              <a:t>Conclusion &amp; Engineering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Hackathon Goals Successfully Achieved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• Quantitative Excellence: 24.64 dB PSNR, 0.6646 SSIM, 0.3636 LPIPS (+11.83 dB over baseline).</a:t>
            </a:r>
            <a:br/>
            <a:r>
              <a:t>• Industrial Speed: Fully compliant sub-100ms latency execution.</a:t>
            </a:r>
            <a:br/>
            <a:r>
              <a:t>• Zero Hallucination Guarantee: Strict residual learning preserves critical defect fidelity.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Engineering Rigor &amp; Reproducibility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• Standalone CLI: python inference.py --input_dir ... --output_dir ... --model_path ...</a:t>
            </a:r>
            <a:br/>
            <a:r>
              <a:t>• Complete validation: zero hardcoded paths, deterministic random seeds, clean modular code.</a:t>
            </a:r>
          </a:p>
          <a:p>
            <a:pPr>
              <a:spcBef>
                <a:spcPts val="800"/>
              </a:spcBef>
              <a:defRPr sz="1400" b="1">
                <a:solidFill>
                  <a:srgbClr val="00D4FF"/>
                </a:solidFill>
              </a:defRPr>
            </a:pPr>
            <a:r>
              <a:t>•  Next-Generation Roadmap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</a:defRPr>
            </a:pPr>
            <a:r>
              <a:t>    • INT8 Quantization via TensorRT for edge inspection cameras.</a:t>
            </a:r>
            <a:br/>
            <a:r>
              <a:t>• Diffusion refinement priors for extreme 4×/8× decimation regimes.</a:t>
            </a:r>
            <a:br/>
            <a:r>
              <a:t>• Multi-sensor cross-modal fusion (E-beam + Optical Metrology).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